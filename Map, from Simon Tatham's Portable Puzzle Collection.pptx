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ooper BT Light" charset="1" panose="0208050304030B020404"/>
      <p:regular r:id="rId22"/>
    </p:embeddedFont>
    <p:embeddedFont>
      <p:font typeface="Cooper BT Bold" charset="1" panose="0208080404030B0204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9072" y="3657959"/>
            <a:ext cx="15589856" cy="212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3"/>
              </a:lnSpc>
              <a:spcBef>
                <a:spcPct val="0"/>
              </a:spcBef>
            </a:pPr>
            <a:r>
              <a:rPr lang="en-US" sz="608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Map, from Simon Tatham's Portable Puzzle Collection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5622" y="2763154"/>
            <a:ext cx="6174023" cy="4760692"/>
          </a:xfrm>
          <a:custGeom>
            <a:avLst/>
            <a:gdLst/>
            <a:ahLst/>
            <a:cxnLst/>
            <a:rect r="r" b="b" t="t" l="l"/>
            <a:pathLst>
              <a:path h="4760692" w="6174023">
                <a:moveTo>
                  <a:pt x="0" y="0"/>
                </a:moveTo>
                <a:lnTo>
                  <a:pt x="6174023" y="0"/>
                </a:lnTo>
                <a:lnTo>
                  <a:pt x="6174023" y="4760692"/>
                </a:lnTo>
                <a:lnTo>
                  <a:pt x="0" y="4760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5143" y="904875"/>
            <a:ext cx="5285383" cy="104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3"/>
              </a:lnSpc>
              <a:spcBef>
                <a:spcPct val="0"/>
              </a:spcBef>
            </a:pPr>
            <a:r>
              <a:rPr lang="en-US" sz="608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Original Puzzle: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68464" y="1864833"/>
            <a:ext cx="10232989" cy="6751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743" indent="-411371" lvl="1">
              <a:lnSpc>
                <a:spcPts val="5335"/>
              </a:lnSpc>
              <a:buFont typeface="Arial"/>
              <a:buChar char="•"/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</a:t>
            </a: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gardless of the number of regions, only four colors are used.</a:t>
            </a:r>
          </a:p>
          <a:p>
            <a:pPr algn="l">
              <a:lnSpc>
                <a:spcPts val="5335"/>
              </a:lnSpc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Rules:</a:t>
            </a:r>
          </a:p>
          <a:p>
            <a:pPr algn="l" marL="822743" indent="-411371" lvl="1">
              <a:lnSpc>
                <a:spcPts val="5335"/>
              </a:lnSpc>
              <a:buFont typeface="Arial"/>
              <a:buChar char="•"/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Colour the map with four colours, so that no two adjacent regions have the same colour. </a:t>
            </a:r>
          </a:p>
          <a:p>
            <a:pPr algn="l" marL="822743" indent="-411371" lvl="1">
              <a:lnSpc>
                <a:spcPts val="5335"/>
              </a:lnSpc>
              <a:buFont typeface="Arial"/>
              <a:buChar char="•"/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Drag from a coloured region to a blank one to colour the latter the same colour as the former. Drag from outside the grid into a region to erase its colour.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53332"/>
            <a:ext cx="7504297" cy="5780337"/>
          </a:xfrm>
          <a:custGeom>
            <a:avLst/>
            <a:gdLst/>
            <a:ahLst/>
            <a:cxnLst/>
            <a:rect r="r" b="b" t="t" l="l"/>
            <a:pathLst>
              <a:path h="5780337" w="7504297">
                <a:moveTo>
                  <a:pt x="0" y="0"/>
                </a:moveTo>
                <a:lnTo>
                  <a:pt x="7504297" y="0"/>
                </a:lnTo>
                <a:lnTo>
                  <a:pt x="7504297" y="5780336"/>
                </a:lnTo>
                <a:lnTo>
                  <a:pt x="0" y="5780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00074" y="2253332"/>
            <a:ext cx="7459226" cy="5780337"/>
          </a:xfrm>
          <a:custGeom>
            <a:avLst/>
            <a:gdLst/>
            <a:ahLst/>
            <a:cxnLst/>
            <a:rect r="r" b="b" t="t" l="l"/>
            <a:pathLst>
              <a:path h="5780337" w="7459226">
                <a:moveTo>
                  <a:pt x="0" y="0"/>
                </a:moveTo>
                <a:lnTo>
                  <a:pt x="7459226" y="0"/>
                </a:lnTo>
                <a:lnTo>
                  <a:pt x="7459226" y="5780336"/>
                </a:lnTo>
                <a:lnTo>
                  <a:pt x="0" y="5780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07080" y="933450"/>
            <a:ext cx="3822470" cy="793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4"/>
              </a:lnSpc>
              <a:spcBef>
                <a:spcPct val="0"/>
              </a:spcBef>
            </a:pPr>
            <a:r>
              <a:rPr lang="en-US" sz="4589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Orginal Puzzle: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9550" y="1061322"/>
            <a:ext cx="3107531" cy="66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Before Solving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00074" y="1061322"/>
            <a:ext cx="2887861" cy="66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After Solving: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3996" y="2274831"/>
            <a:ext cx="6363143" cy="6355189"/>
          </a:xfrm>
          <a:custGeom>
            <a:avLst/>
            <a:gdLst/>
            <a:ahLst/>
            <a:cxnLst/>
            <a:rect r="r" b="b" t="t" l="l"/>
            <a:pathLst>
              <a:path h="6355189" w="6363143">
                <a:moveTo>
                  <a:pt x="0" y="0"/>
                </a:moveTo>
                <a:lnTo>
                  <a:pt x="6363143" y="0"/>
                </a:lnTo>
                <a:lnTo>
                  <a:pt x="6363143" y="6355189"/>
                </a:lnTo>
                <a:lnTo>
                  <a:pt x="0" y="6355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5548278" cy="73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2"/>
              </a:lnSpc>
              <a:spcBef>
                <a:spcPct val="0"/>
              </a:spcBef>
            </a:pPr>
            <a:r>
              <a:rPr lang="en-US" sz="423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Two Player Map puzzle: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39659" y="2062934"/>
            <a:ext cx="9324681" cy="6751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objective of the game is to cooperatively color all regions of the map such that:</a:t>
            </a:r>
          </a:p>
          <a:p>
            <a:pPr algn="l">
              <a:lnSpc>
                <a:spcPts val="5335"/>
              </a:lnSpc>
            </a:pPr>
          </a:p>
          <a:p>
            <a:pPr algn="l">
              <a:lnSpc>
                <a:spcPts val="5335"/>
              </a:lnSpc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•No two adjacent regions share the same colour.</a:t>
            </a:r>
          </a:p>
          <a:p>
            <a:pPr algn="l">
              <a:lnSpc>
                <a:spcPts val="5335"/>
              </a:lnSpc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•Only 4 colours are allowed.</a:t>
            </a:r>
          </a:p>
          <a:p>
            <a:pPr algn="l">
              <a:lnSpc>
                <a:spcPts val="5335"/>
              </a:lnSpc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•The puzzle is solved when every region has a valid colour.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5868" y="290134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7834" y="2919106"/>
            <a:ext cx="6419437" cy="6339194"/>
          </a:xfrm>
          <a:custGeom>
            <a:avLst/>
            <a:gdLst/>
            <a:ahLst/>
            <a:cxnLst/>
            <a:rect r="r" b="b" t="t" l="l"/>
            <a:pathLst>
              <a:path h="6339194" w="6419437">
                <a:moveTo>
                  <a:pt x="0" y="0"/>
                </a:moveTo>
                <a:lnTo>
                  <a:pt x="6419437" y="0"/>
                </a:lnTo>
                <a:lnTo>
                  <a:pt x="6419437" y="6339194"/>
                </a:lnTo>
                <a:lnTo>
                  <a:pt x="0" y="6339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5995345" cy="78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en-US" sz="457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Tw</a:t>
            </a:r>
            <a:r>
              <a:rPr lang="en-US" sz="457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 Player Map puzzle: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67337"/>
            <a:ext cx="3237806" cy="66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Before Sovling: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1867337"/>
            <a:ext cx="2887861" cy="66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After Solving: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7688" y="5143500"/>
            <a:ext cx="5052602" cy="4940705"/>
          </a:xfrm>
          <a:custGeom>
            <a:avLst/>
            <a:gdLst/>
            <a:ahLst/>
            <a:cxnLst/>
            <a:rect r="r" b="b" t="t" l="l"/>
            <a:pathLst>
              <a:path h="4940705" w="5052602">
                <a:moveTo>
                  <a:pt x="0" y="0"/>
                </a:moveTo>
                <a:lnTo>
                  <a:pt x="5052602" y="0"/>
                </a:lnTo>
                <a:lnTo>
                  <a:pt x="5052602" y="4940705"/>
                </a:lnTo>
                <a:lnTo>
                  <a:pt x="0" y="494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12917" y="4750700"/>
            <a:ext cx="6687925" cy="4940705"/>
          </a:xfrm>
          <a:custGeom>
            <a:avLst/>
            <a:gdLst/>
            <a:ahLst/>
            <a:cxnLst/>
            <a:rect r="r" b="b" t="t" l="l"/>
            <a:pathLst>
              <a:path h="4940705" w="6687925">
                <a:moveTo>
                  <a:pt x="0" y="0"/>
                </a:moveTo>
                <a:lnTo>
                  <a:pt x="6687925" y="0"/>
                </a:lnTo>
                <a:lnTo>
                  <a:pt x="6687925" y="4940704"/>
                </a:lnTo>
                <a:lnTo>
                  <a:pt x="0" y="4940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34576" y="4750700"/>
            <a:ext cx="5953424" cy="5127386"/>
          </a:xfrm>
          <a:custGeom>
            <a:avLst/>
            <a:gdLst/>
            <a:ahLst/>
            <a:cxnLst/>
            <a:rect r="r" b="b" t="t" l="l"/>
            <a:pathLst>
              <a:path h="5127386" w="5953424">
                <a:moveTo>
                  <a:pt x="0" y="0"/>
                </a:moveTo>
                <a:lnTo>
                  <a:pt x="5953424" y="0"/>
                </a:lnTo>
                <a:lnTo>
                  <a:pt x="5953424" y="5127386"/>
                </a:lnTo>
                <a:lnTo>
                  <a:pt x="0" y="51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8157" y="525023"/>
            <a:ext cx="5183422" cy="90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5"/>
              </a:lnSpc>
              <a:spcBef>
                <a:spcPct val="0"/>
              </a:spcBef>
            </a:pPr>
            <a:r>
              <a:rPr lang="en-US" sz="5246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Regions Creation: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8257" y="1341877"/>
            <a:ext cx="5422999" cy="66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STEP 1: G</a:t>
            </a: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rid Initialization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8257" y="1940409"/>
            <a:ext cx="4862033" cy="294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6"/>
              </a:lnSpc>
              <a:spcBef>
                <a:spcPct val="0"/>
              </a:spcBef>
            </a:pPr>
            <a:r>
              <a:rPr lang="en-US" sz="334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</a:t>
            </a:r>
            <a:r>
              <a:rPr lang="en-US" sz="334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ode:</a:t>
            </a:r>
          </a:p>
          <a:p>
            <a:pPr algn="l">
              <a:lnSpc>
                <a:spcPts val="4676"/>
              </a:lnSpc>
              <a:spcBef>
                <a:spcPct val="0"/>
              </a:spcBef>
            </a:pPr>
            <a:r>
              <a:rPr lang="en-US" sz="334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grid[r][c] = new Cell(r, c);</a:t>
            </a:r>
          </a:p>
          <a:p>
            <a:pPr algn="l">
              <a:lnSpc>
                <a:spcPts val="4676"/>
              </a:lnSpc>
              <a:spcBef>
                <a:spcPct val="0"/>
              </a:spcBef>
            </a:pPr>
            <a:r>
              <a:rPr lang="en-US" sz="334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For Example,</a:t>
            </a:r>
          </a:p>
          <a:p>
            <a:pPr algn="l">
              <a:lnSpc>
                <a:spcPts val="4676"/>
              </a:lnSpc>
              <a:spcBef>
                <a:spcPct val="0"/>
              </a:spcBef>
            </a:pPr>
            <a:r>
              <a:rPr lang="en-US" sz="334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Unassigned=-1</a:t>
            </a:r>
          </a:p>
          <a:p>
            <a:pPr algn="ctr">
              <a:lnSpc>
                <a:spcPts val="467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73345" y="4478293"/>
            <a:ext cx="2709168" cy="66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Initi</a:t>
            </a: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ally cells: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2917" y="2213925"/>
            <a:ext cx="4964121" cy="253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2"/>
              </a:lnSpc>
              <a:spcBef>
                <a:spcPct val="0"/>
              </a:spcBef>
            </a:pPr>
            <a:r>
              <a:rPr lang="en-US" sz="3594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Ass</a:t>
            </a:r>
            <a:r>
              <a:rPr lang="en-US" sz="3594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ume seeds chosen at:</a:t>
            </a:r>
          </a:p>
          <a:p>
            <a:pPr algn="l">
              <a:lnSpc>
                <a:spcPts val="5032"/>
              </a:lnSpc>
              <a:spcBef>
                <a:spcPct val="0"/>
              </a:spcBef>
            </a:pPr>
            <a:r>
              <a:rPr lang="en-US" sz="3594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Region 0 → (1,1)</a:t>
            </a:r>
          </a:p>
          <a:p>
            <a:pPr algn="l">
              <a:lnSpc>
                <a:spcPts val="5032"/>
              </a:lnSpc>
              <a:spcBef>
                <a:spcPct val="0"/>
              </a:spcBef>
            </a:pPr>
            <a:r>
              <a:rPr lang="en-US" sz="3594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Region 1 → (1,4)</a:t>
            </a:r>
          </a:p>
          <a:p>
            <a:pPr algn="l">
              <a:lnSpc>
                <a:spcPts val="5032"/>
              </a:lnSpc>
              <a:spcBef>
                <a:spcPct val="0"/>
              </a:spcBef>
            </a:pPr>
            <a:r>
              <a:rPr lang="en-US" sz="3594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Region 2 → (4,3)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9150" y="466001"/>
            <a:ext cx="8549104" cy="1080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0"/>
              </a:lnSpc>
              <a:spcBef>
                <a:spcPct val="0"/>
              </a:spcBef>
            </a:pPr>
            <a:r>
              <a:rPr lang="en-US" sz="2085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Formula for Region size:</a:t>
            </a:r>
          </a:p>
          <a:p>
            <a:pPr algn="l">
              <a:lnSpc>
                <a:spcPts val="2920"/>
              </a:lnSpc>
              <a:spcBef>
                <a:spcPct val="0"/>
              </a:spcBef>
            </a:pPr>
            <a:r>
              <a:rPr lang="en-US" sz="208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 targetAvgSize = totalCells / numRegions;</a:t>
            </a:r>
          </a:p>
          <a:p>
            <a:pPr algn="l">
              <a:lnSpc>
                <a:spcPts val="2920"/>
              </a:lnSpc>
              <a:spcBef>
                <a:spcPct val="0"/>
              </a:spcBef>
            </a:pPr>
            <a:r>
              <a:rPr lang="en-US" sz="208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 targetSize = (int)(targetAvgSize * (0.7 + random.nextDouble() * 0.6));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2439" y="1028700"/>
            <a:ext cx="8121561" cy="5938891"/>
          </a:xfrm>
          <a:custGeom>
            <a:avLst/>
            <a:gdLst/>
            <a:ahLst/>
            <a:cxnLst/>
            <a:rect r="r" b="b" t="t" l="l"/>
            <a:pathLst>
              <a:path h="5938891" w="8121561">
                <a:moveTo>
                  <a:pt x="0" y="0"/>
                </a:moveTo>
                <a:lnTo>
                  <a:pt x="8121561" y="0"/>
                </a:lnTo>
                <a:lnTo>
                  <a:pt x="8121561" y="5938891"/>
                </a:lnTo>
                <a:lnTo>
                  <a:pt x="0" y="5938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028700"/>
            <a:ext cx="7085599" cy="6164471"/>
          </a:xfrm>
          <a:custGeom>
            <a:avLst/>
            <a:gdLst/>
            <a:ahLst/>
            <a:cxnLst/>
            <a:rect r="r" b="b" t="t" l="l"/>
            <a:pathLst>
              <a:path h="6164471" w="7085599">
                <a:moveTo>
                  <a:pt x="0" y="0"/>
                </a:moveTo>
                <a:lnTo>
                  <a:pt x="7085599" y="0"/>
                </a:lnTo>
                <a:lnTo>
                  <a:pt x="7085599" y="6164471"/>
                </a:lnTo>
                <a:lnTo>
                  <a:pt x="0" y="61644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980791"/>
            <a:ext cx="8274150" cy="66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•Now, we have some unassigned cells.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87200" y="5862381"/>
            <a:ext cx="6272100" cy="4178787"/>
          </a:xfrm>
          <a:custGeom>
            <a:avLst/>
            <a:gdLst/>
            <a:ahLst/>
            <a:cxnLst/>
            <a:rect r="r" b="b" t="t" l="l"/>
            <a:pathLst>
              <a:path h="4178787" w="6272100">
                <a:moveTo>
                  <a:pt x="0" y="0"/>
                </a:moveTo>
                <a:lnTo>
                  <a:pt x="6272100" y="0"/>
                </a:lnTo>
                <a:lnTo>
                  <a:pt x="6272100" y="4178787"/>
                </a:lnTo>
                <a:lnTo>
                  <a:pt x="0" y="4178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21966" y="1392812"/>
            <a:ext cx="5277566" cy="4161158"/>
          </a:xfrm>
          <a:custGeom>
            <a:avLst/>
            <a:gdLst/>
            <a:ahLst/>
            <a:cxnLst/>
            <a:rect r="r" b="b" t="t" l="l"/>
            <a:pathLst>
              <a:path h="4161158" w="5277566">
                <a:moveTo>
                  <a:pt x="0" y="0"/>
                </a:moveTo>
                <a:lnTo>
                  <a:pt x="5277565" y="0"/>
                </a:lnTo>
                <a:lnTo>
                  <a:pt x="5277565" y="4161157"/>
                </a:lnTo>
                <a:lnTo>
                  <a:pt x="0" y="4161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53951" y="569338"/>
            <a:ext cx="12780098" cy="82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4"/>
              </a:lnSpc>
              <a:spcBef>
                <a:spcPct val="0"/>
              </a:spcBef>
            </a:pPr>
            <a:r>
              <a:rPr lang="en-US" sz="4788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MAP</a:t>
            </a:r>
            <a:r>
              <a:rPr lang="en-US" sz="4788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COLORING USING DIVIDE &amp; CONQUER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234" y="2305895"/>
            <a:ext cx="7412831" cy="60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8"/>
              </a:lnSpc>
              <a:spcBef>
                <a:spcPct val="0"/>
              </a:spcBef>
            </a:pPr>
            <a:r>
              <a:rPr lang="en-US" b="true" sz="3513">
                <a:solidFill>
                  <a:srgbClr val="FFDE59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GameGraph (C</a:t>
            </a:r>
            <a:r>
              <a:rPr lang="en-US" b="true" sz="3513">
                <a:solidFill>
                  <a:srgbClr val="FFDE59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ore Graph Logic):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9674" y="2845308"/>
            <a:ext cx="8969375" cy="2490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  <a:spcBef>
                <a:spcPct val="0"/>
              </a:spcBef>
            </a:pPr>
            <a:r>
              <a:rPr lang="en-US" sz="3556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This c</a:t>
            </a:r>
            <a:r>
              <a:rPr lang="en-US" sz="3556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onverts regions into a graph.</a:t>
            </a:r>
          </a:p>
          <a:p>
            <a:pPr algn="l" marL="767790" indent="-383895" lvl="1">
              <a:lnSpc>
                <a:spcPts val="4978"/>
              </a:lnSpc>
              <a:buFont typeface="Arial"/>
              <a:buChar char="•"/>
            </a:pPr>
            <a:r>
              <a:rPr lang="en-US" sz="35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Two regions are connected if:</a:t>
            </a:r>
          </a:p>
          <a:p>
            <a:pPr algn="l" marL="767790" indent="-383895" lvl="1">
              <a:lnSpc>
                <a:spcPts val="4978"/>
              </a:lnSpc>
              <a:buFont typeface="Arial"/>
              <a:buChar char="•"/>
            </a:pPr>
            <a:r>
              <a:rPr lang="en-US" sz="35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Their cells touch horizontally or vertically</a:t>
            </a:r>
          </a:p>
          <a:p>
            <a:pPr algn="l">
              <a:lnSpc>
                <a:spcPts val="497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19674" y="5057775"/>
            <a:ext cx="8825210" cy="20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Adjacency neighbours st</a:t>
            </a:r>
            <a:r>
              <a:rPr lang="en-US" sz="381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ored in the form: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Map&lt;Integer, Set&lt;Integer&gt;&gt; adj;</a:t>
            </a:r>
          </a:p>
          <a:p>
            <a:pPr algn="just">
              <a:lnSpc>
                <a:spcPts val="53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82843" y="6868653"/>
            <a:ext cx="7276457" cy="2044657"/>
            <a:chOff x="0" y="0"/>
            <a:chExt cx="1916433" cy="538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6433" cy="538510"/>
            </a:xfrm>
            <a:custGeom>
              <a:avLst/>
              <a:gdLst/>
              <a:ahLst/>
              <a:cxnLst/>
              <a:rect r="r" b="b" t="t" l="l"/>
              <a:pathLst>
                <a:path h="538510" w="1916433">
                  <a:moveTo>
                    <a:pt x="0" y="0"/>
                  </a:moveTo>
                  <a:lnTo>
                    <a:pt x="1916433" y="0"/>
                  </a:lnTo>
                  <a:lnTo>
                    <a:pt x="1916433" y="538510"/>
                  </a:lnTo>
                  <a:lnTo>
                    <a:pt x="0" y="53851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16433" cy="576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05120" y="906735"/>
            <a:ext cx="7565445" cy="73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3"/>
              </a:lnSpc>
              <a:spcBef>
                <a:spcPct val="0"/>
              </a:spcBef>
            </a:pPr>
            <a:r>
              <a:rPr lang="en-US" sz="4309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</a:t>
            </a:r>
            <a:r>
              <a:rPr lang="en-US" sz="4309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raph Partitioning Explanation: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68690" y="7072000"/>
            <a:ext cx="7504763" cy="158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8"/>
              </a:lnSpc>
            </a:pPr>
            <a:r>
              <a:rPr lang="en-US" sz="3013" b="tru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Where,</a:t>
            </a:r>
          </a:p>
          <a:p>
            <a:pPr algn="ctr">
              <a:lnSpc>
                <a:spcPts val="4218"/>
              </a:lnSpc>
              <a:spcBef>
                <a:spcPct val="0"/>
              </a:spcBef>
            </a:pPr>
            <a:r>
              <a:rPr lang="en-US" b="true" sz="3013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seed=The first region from the list of free (uncolored) regions.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9575" y="1908527"/>
            <a:ext cx="6976467" cy="700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4"/>
              </a:lnSpc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Select seed</a:t>
            </a:r>
          </a:p>
          <a:p>
            <a:pPr algn="ctr">
              <a:lnSpc>
                <a:spcPts val="5034"/>
              </a:lnSpc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ctr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BFS → find farthest n</a:t>
            </a: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ode A</a:t>
            </a:r>
          </a:p>
          <a:p>
            <a:pPr algn="ctr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ctr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BFS from A → find farthest node B</a:t>
            </a:r>
          </a:p>
          <a:p>
            <a:pPr algn="ctr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ctr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For each region:</a:t>
            </a:r>
          </a:p>
          <a:p>
            <a:pPr algn="ctr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Compare distance to A and B</a:t>
            </a:r>
          </a:p>
          <a:p>
            <a:pPr algn="ctr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ctr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Assign to Left or Right</a:t>
            </a:r>
          </a:p>
          <a:p>
            <a:pPr algn="ctr">
              <a:lnSpc>
                <a:spcPts val="50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968" y="923925"/>
            <a:ext cx="8306131" cy="86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7"/>
              </a:lnSpc>
              <a:spcBef>
                <a:spcPct val="0"/>
              </a:spcBef>
            </a:pPr>
            <a:r>
              <a:rPr lang="en-US" sz="5012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Divide &amp; Conquer Approach: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97707" y="1733818"/>
            <a:ext cx="4500317" cy="803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</a:t>
            </a: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olve( )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Collect free regions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dcSolve(regions)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small → Backtracking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ELSE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Divide into Left &amp; Right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Solve Left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Solve Right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Merge (fix seam if needed)</a:t>
            </a:r>
          </a:p>
          <a:p>
            <a:pPr algn="l">
              <a:lnSpc>
                <a:spcPts val="3969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H="true">
            <a:off x="9124950" y="1028700"/>
            <a:ext cx="0" cy="840331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10210800" y="771983"/>
            <a:ext cx="4135816" cy="101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1"/>
              </a:lnSpc>
              <a:spcBef>
                <a:spcPct val="0"/>
              </a:spcBef>
            </a:pPr>
            <a:r>
              <a:rPr lang="en-US" sz="5886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Merge Flow: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00976" y="1705942"/>
            <a:ext cx="4311021" cy="806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Left solved</a:t>
            </a:r>
          </a:p>
          <a:p>
            <a:pPr algn="l">
              <a:lnSpc>
                <a:spcPts val="4251"/>
              </a:lnSpc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Right solved</a:t>
            </a:r>
          </a:p>
          <a:p>
            <a:pPr algn="l">
              <a:lnSpc>
                <a:spcPts val="4251"/>
              </a:lnSpc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Check b</a:t>
            </a: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oundary conflicts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none → SUCCESS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conflicts: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Collect seam regions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Uncolor seam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Backtrack only seam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If fixed → SUCCESS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  <a:r>
              <a:rPr lang="en-US" sz="303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Else → FAIL</a:t>
            </a:r>
          </a:p>
          <a:p>
            <a:pPr algn="l">
              <a:lnSpc>
                <a:spcPts val="42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8189" y="952500"/>
            <a:ext cx="4603331" cy="69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5"/>
              </a:lnSpc>
              <a:spcBef>
                <a:spcPct val="0"/>
              </a:spcBef>
            </a:pPr>
            <a:r>
              <a:rPr lang="en-US" sz="4068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Back Tracking Flow: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8652" y="1865023"/>
            <a:ext cx="8824714" cy="810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all regions col</a:t>
            </a: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ored → return TRUE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Choose region with fewest options (MRV)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For each legal color: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Assign color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Recurse for next region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If success → return TRUE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Undo color (backtrack)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no color works → return FALSE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10946498" y="1338035"/>
            <a:ext cx="0" cy="792026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11337010" y="737722"/>
            <a:ext cx="6738261" cy="121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MRV</a:t>
            </a:r>
            <a:r>
              <a:rPr lang="en-US" sz="3494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Selection Flow:(Minimum Remaining value)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49739" y="3356404"/>
            <a:ext cx="6312802" cy="228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</a:t>
            </a: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 each uncolored region: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Count legal colors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Select region with minimum count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22435"/>
            <a:ext cx="4724271" cy="113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9"/>
              </a:lnSpc>
              <a:spcBef>
                <a:spcPct val="0"/>
              </a:spcBef>
            </a:pPr>
            <a:r>
              <a:rPr lang="en-US" sz="6642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Bot Statergy: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80153"/>
            <a:ext cx="7190791" cy="704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Human Move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Immediate Conflict Check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Run Divide &amp; Conquer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↓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Solvable: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Accept move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Bot colors most constrained region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Else:</a:t>
            </a:r>
          </a:p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Replace human color with globally safe color</a:t>
            </a:r>
          </a:p>
          <a:p>
            <a:pPr algn="l">
              <a:lnSpc>
                <a:spcPts val="4348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8579120" y="487562"/>
            <a:ext cx="0" cy="931187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9427774" y="1386219"/>
            <a:ext cx="3934202" cy="890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Human colors R with C</a:t>
            </a:r>
          </a:p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Check neighbor conflict?</a:t>
            </a:r>
          </a:p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YES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Remove color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Find possible colors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For each color: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Assign temporarily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Run full D&amp;C solver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If solvable → accept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none solvable: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Try simple local fix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still none: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Revert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670060"/>
            <a:ext cx="3256879" cy="6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Conflict Check: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45927" y="923925"/>
            <a:ext cx="9196146" cy="93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7"/>
              </a:lnSpc>
              <a:spcBef>
                <a:spcPct val="0"/>
              </a:spcBef>
            </a:pPr>
            <a:r>
              <a:rPr lang="en-US" sz="554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Edge</a:t>
            </a:r>
            <a:r>
              <a:rPr lang="en-US" sz="554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Cases in Our Algorithm:</a:t>
            </a:r>
          </a:p>
        </p:txBody>
      </p:sp>
      <p:sp>
        <p:nvSpPr>
          <p:cNvPr name="AutoShape 3" id="3"/>
          <p:cNvSpPr/>
          <p:nvPr/>
        </p:nvSpPr>
        <p:spPr>
          <a:xfrm>
            <a:off x="9163050" y="2627128"/>
            <a:ext cx="0" cy="616702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0" y="2503710"/>
            <a:ext cx="8639175" cy="125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sz="3634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Edge Case 1:What If Seam Cannot Be Fixed?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63050" y="2541403"/>
            <a:ext cx="8301652" cy="1324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5"/>
              </a:lnSpc>
              <a:spcBef>
                <a:spcPct val="0"/>
              </a:spcBef>
            </a:pPr>
            <a:r>
              <a:rPr lang="en-US" sz="3803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Edge Case 2:What If Human Move Makes Puzzle Unsolvable?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1160" y="4016541"/>
            <a:ext cx="5016855" cy="595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Left solved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Right s</a:t>
            </a: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olved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Check seam conflicts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Backtrack seam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seam cannot be fixed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Return FALSE</a:t>
            </a:r>
          </a:p>
          <a:p>
            <a:pPr algn="ctr">
              <a:lnSpc>
                <a:spcPts val="432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987653" y="4026066"/>
            <a:ext cx="4593680" cy="594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1"/>
              </a:lnSpc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Human move</a:t>
            </a:r>
          </a:p>
          <a:p>
            <a:pPr algn="ctr">
              <a:lnSpc>
                <a:spcPts val="3961"/>
              </a:lnSpc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Run D&amp;C s</a:t>
            </a: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olver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solver returns NULL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Try alternative colors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none works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Revert move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39871" y="2850880"/>
            <a:ext cx="6268992" cy="6208547"/>
          </a:xfrm>
          <a:custGeom>
            <a:avLst/>
            <a:gdLst/>
            <a:ahLst/>
            <a:cxnLst/>
            <a:rect r="r" b="b" t="t" l="l"/>
            <a:pathLst>
              <a:path h="6208547" w="6268992">
                <a:moveTo>
                  <a:pt x="0" y="0"/>
                </a:moveTo>
                <a:lnTo>
                  <a:pt x="6268992" y="0"/>
                </a:lnTo>
                <a:lnTo>
                  <a:pt x="6268992" y="6208547"/>
                </a:lnTo>
                <a:lnTo>
                  <a:pt x="0" y="6208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5722" y="923925"/>
            <a:ext cx="9196557" cy="93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7"/>
              </a:lnSpc>
              <a:spcBef>
                <a:spcPct val="0"/>
              </a:spcBef>
            </a:pPr>
            <a:r>
              <a:rPr lang="en-US" sz="554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Edge</a:t>
            </a:r>
            <a:r>
              <a:rPr lang="en-US" sz="554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Cases in Our Algorithm: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39163" y="2558097"/>
            <a:ext cx="8639175" cy="125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sz="3634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Edge Case 3:What If No Color Is Available for a Region?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22458" y="4503468"/>
            <a:ext cx="6072585" cy="455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Cho</a:t>
            </a: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ose region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Legal colors = empty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Return FALSE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↓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25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Previous level tries different color</a:t>
            </a:r>
          </a:p>
          <a:p>
            <a:pPr algn="ctr">
              <a:lnSpc>
                <a:spcPts val="45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8286" y="933450"/>
            <a:ext cx="9004875" cy="81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2"/>
              </a:lnSpc>
              <a:spcBef>
                <a:spcPct val="0"/>
              </a:spcBef>
            </a:pPr>
            <a:r>
              <a:rPr lang="en-US" sz="4809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Old Approach vs New Approach: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7842" y="1990951"/>
            <a:ext cx="6362782" cy="793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Start</a:t>
            </a:r>
          </a:p>
          <a:p>
            <a:pPr algn="l">
              <a:lnSpc>
                <a:spcPts val="3928"/>
              </a:lnSpc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Select next regi</a:t>
            </a: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on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Pick region with: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• Maximum neighbors 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• OR Minimum available colors (MRV)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Assign first legal color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Move to next region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conflict later → may fail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End</a:t>
            </a:r>
          </a:p>
          <a:p>
            <a:pPr algn="l">
              <a:lnSpc>
                <a:spcPts val="3928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9703229" y="2048467"/>
            <a:ext cx="149932" cy="720983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11279300" y="1703348"/>
            <a:ext cx="4452473" cy="8072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Start</a:t>
            </a:r>
          </a:p>
          <a:p>
            <a:pPr algn="l">
              <a:lnSpc>
                <a:spcPts val="3582"/>
              </a:lnSpc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</a:t>
            </a: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ollect uncolored regions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small → Backtracking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Else: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Divide graph into 2 partitions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Recursively solve left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Recursively solve right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↓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Merge and fix seam conflicts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Return globally valid solution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↓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End</a:t>
            </a:r>
          </a:p>
          <a:p>
            <a:pPr algn="l">
              <a:lnSpc>
                <a:spcPts val="35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1516"/>
            <a:ext cx="6462614" cy="94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7"/>
              </a:lnSpc>
              <a:spcBef>
                <a:spcPct val="0"/>
              </a:spcBef>
            </a:pPr>
            <a:r>
              <a:rPr lang="en-US" sz="554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</a:t>
            </a:r>
            <a:r>
              <a:rPr lang="en-US" sz="5541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of of Correctness: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91771"/>
            <a:ext cx="6611005" cy="295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7"/>
              </a:lnSpc>
              <a:spcBef>
                <a:spcPct val="0"/>
              </a:spcBef>
            </a:pPr>
            <a:r>
              <a:rPr lang="en-US" sz="3355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Base Case (n ≤</a:t>
            </a:r>
            <a:r>
              <a:rPr lang="en-US" sz="3355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BASE_SIZE):</a:t>
            </a:r>
          </a:p>
          <a:p>
            <a:pPr algn="l" marL="724493" indent="-362247" lvl="1">
              <a:lnSpc>
                <a:spcPts val="4697"/>
              </a:lnSpc>
              <a:spcBef>
                <a:spcPct val="0"/>
              </a:spcBef>
              <a:buFont typeface="Arial"/>
              <a:buChar char="•"/>
            </a:pPr>
            <a:r>
              <a:rPr lang="en-US" sz="335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Uses complete backtracking</a:t>
            </a:r>
          </a:p>
          <a:p>
            <a:pPr algn="l" marL="724493" indent="-362247" lvl="1">
              <a:lnSpc>
                <a:spcPts val="4697"/>
              </a:lnSpc>
              <a:spcBef>
                <a:spcPct val="0"/>
              </a:spcBef>
              <a:buFont typeface="Arial"/>
              <a:buChar char="•"/>
            </a:pPr>
            <a:r>
              <a:rPr lang="en-US" sz="335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Tries all valid color assignments</a:t>
            </a:r>
          </a:p>
          <a:p>
            <a:pPr algn="l" marL="724493" indent="-362247" lvl="1">
              <a:lnSpc>
                <a:spcPts val="4697"/>
              </a:lnSpc>
              <a:spcBef>
                <a:spcPct val="0"/>
              </a:spcBef>
              <a:buFont typeface="Arial"/>
              <a:buChar char="•"/>
            </a:pPr>
            <a:r>
              <a:rPr lang="en-US" sz="3355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Never assigns conflicting colors</a:t>
            </a:r>
          </a:p>
          <a:p>
            <a:pPr algn="l">
              <a:lnSpc>
                <a:spcPts val="469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666517"/>
            <a:ext cx="7777064" cy="146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8"/>
              </a:lnSpc>
              <a:spcBef>
                <a:spcPct val="0"/>
              </a:spcBef>
            </a:pPr>
            <a:r>
              <a:rPr lang="en-US" sz="277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Inductive Hyp</a:t>
            </a:r>
            <a:r>
              <a:rPr lang="en-US" sz="2770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othesis:</a:t>
            </a:r>
          </a:p>
          <a:p>
            <a:pPr algn="l">
              <a:lnSpc>
                <a:spcPts val="3878"/>
              </a:lnSpc>
              <a:spcBef>
                <a:spcPct val="0"/>
              </a:spcBef>
            </a:pPr>
            <a:r>
              <a:rPr lang="en-US" sz="277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Assume the solver works correctly for ≤ k regions.</a:t>
            </a:r>
          </a:p>
          <a:p>
            <a:pPr algn="l">
              <a:lnSpc>
                <a:spcPts val="387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591492" y="6070930"/>
            <a:ext cx="10120497" cy="378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3"/>
              </a:lnSpc>
              <a:spcBef>
                <a:spcPct val="0"/>
              </a:spcBef>
            </a:pPr>
            <a:r>
              <a:rPr lang="en-US" sz="3066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Ind</a:t>
            </a:r>
            <a:r>
              <a:rPr lang="en-US" sz="3066">
                <a:solidFill>
                  <a:srgbClr val="FFD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uctive Step (k + 1 regions):</a:t>
            </a:r>
          </a:p>
          <a:p>
            <a:pPr algn="l" marL="662069" indent="-331035" lvl="1">
              <a:lnSpc>
                <a:spcPts val="4293"/>
              </a:lnSpc>
              <a:spcBef>
                <a:spcPct val="0"/>
              </a:spcBef>
              <a:buAutoNum type="arabicPeriod" startAt="1"/>
            </a:pPr>
            <a:r>
              <a:rPr lang="en-US" sz="306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Divide → Split graph (no constraints removed)</a:t>
            </a:r>
          </a:p>
          <a:p>
            <a:pPr algn="l" marL="662069" indent="-331035" lvl="1">
              <a:lnSpc>
                <a:spcPts val="4293"/>
              </a:lnSpc>
              <a:spcBef>
                <a:spcPct val="0"/>
              </a:spcBef>
              <a:buAutoNum type="arabicPeriod" startAt="1"/>
            </a:pPr>
            <a:r>
              <a:rPr lang="en-US" sz="306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Conquer → Recursively solve left &amp; right (correct by hypothesis)</a:t>
            </a:r>
          </a:p>
          <a:p>
            <a:pPr algn="l" marL="662069" indent="-331035" lvl="1">
              <a:lnSpc>
                <a:spcPts val="4293"/>
              </a:lnSpc>
              <a:spcBef>
                <a:spcPct val="0"/>
              </a:spcBef>
              <a:buAutoNum type="arabicPeriod" startAt="1"/>
            </a:pPr>
            <a:r>
              <a:rPr lang="en-US" sz="306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Merge → Detect and repair boundary conflicts using backtracking</a:t>
            </a:r>
          </a:p>
          <a:p>
            <a:pPr algn="l">
              <a:lnSpc>
                <a:spcPts val="429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DAHBmY995Us</dc:identifier>
  <dcterms:modified xsi:type="dcterms:W3CDTF">2011-08-01T06:04:30Z</dcterms:modified>
  <cp:revision>1</cp:revision>
  <dc:title>Copy of Map, from Simon Tatham's Portable Puzzle Collection</dc:title>
</cp:coreProperties>
</file>